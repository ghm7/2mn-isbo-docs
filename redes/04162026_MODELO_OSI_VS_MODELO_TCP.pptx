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4" r:id="rId4"/>
    <p:sldId id="266" r:id="rId5"/>
    <p:sldId id="265" r:id="rId6"/>
    <p:sldId id="267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emf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open?id=16w7E9gyoe0dMUCh0UDDgXbFUZHoT9bKf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s.calameo.com/books/005208565d075e67ae39f" TargetMode="External"/><Relationship Id="rId4" Type="http://schemas.openxmlformats.org/officeDocument/2006/relationships/hyperlink" Target="https://www.filehorse.com/es/descargar-cisco-packet-tracer-32/27899/descargar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ireshark.uptodown.com/window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24315" y="4684817"/>
            <a:ext cx="7766936" cy="1646302"/>
          </a:xfrm>
        </p:spPr>
        <p:txBody>
          <a:bodyPr/>
          <a:lstStyle/>
          <a:p>
            <a:pPr algn="l"/>
            <a:r>
              <a:rPr lang="es-ES" sz="3200" b="1" dirty="0"/>
              <a:t>MODELO OSI VS MODELO TCP/IP</a:t>
            </a:r>
            <a:r>
              <a:rPr lang="es-ES" sz="3200" dirty="0"/>
              <a:t/>
            </a:r>
            <a:br>
              <a:rPr lang="es-ES" sz="3200" dirty="0"/>
            </a:br>
            <a:r>
              <a:rPr lang="es-ES" sz="3200" b="1" dirty="0" smtClean="0"/>
              <a:t>Estudio comparativo</a:t>
            </a:r>
            <a:br>
              <a:rPr lang="es-ES" sz="3200" b="1" dirty="0" smtClean="0"/>
            </a:br>
            <a:r>
              <a:rPr lang="es-ES" sz="3200" b="1" dirty="0" err="1" smtClean="0"/>
              <a:t>Comparativo</a:t>
            </a:r>
            <a:r>
              <a:rPr lang="es-ES" sz="3200" b="1" dirty="0" smtClean="0"/>
              <a:t> </a:t>
            </a:r>
            <a:r>
              <a:rPr lang="es-ES" sz="3200" b="1" dirty="0"/>
              <a:t>con infraestructura de redes</a:t>
            </a:r>
            <a:r>
              <a:rPr lang="es-ES" sz="3200" dirty="0"/>
              <a:t/>
            </a:r>
            <a:br>
              <a:rPr lang="es-ES" sz="3200" dirty="0"/>
            </a:br>
            <a:r>
              <a:rPr lang="es-ES" sz="3200" b="1" dirty="0"/>
              <a:t>Descripción capa a capa </a:t>
            </a:r>
            <a:r>
              <a:rPr lang="es-ES" sz="3200" b="1" dirty="0" smtClean="0"/>
              <a:t> encapsulado</a:t>
            </a:r>
            <a:r>
              <a:rPr lang="es-ES" sz="3200" dirty="0"/>
              <a:t/>
            </a:r>
            <a:br>
              <a:rPr lang="es-ES" sz="3200" dirty="0"/>
            </a:br>
            <a:r>
              <a:rPr lang="es-ES" sz="3200" b="1" dirty="0" smtClean="0"/>
              <a:t>Estudio </a:t>
            </a:r>
            <a:r>
              <a:rPr lang="es-ES" sz="3200" b="1" dirty="0"/>
              <a:t>de cabeceras, protocolos y sus </a:t>
            </a:r>
            <a:r>
              <a:rPr lang="es-ES" sz="3200" b="1" dirty="0" smtClean="0"/>
              <a:t>puertos</a:t>
            </a:r>
            <a:br>
              <a:rPr lang="es-ES" sz="3200" b="1" dirty="0" smtClean="0"/>
            </a:br>
            <a:r>
              <a:rPr lang="es-ES" sz="3200" b="1" dirty="0"/>
              <a:t>R</a:t>
            </a:r>
            <a:r>
              <a:rPr lang="es-ES" sz="3200" b="1" dirty="0" smtClean="0"/>
              <a:t>epresentación </a:t>
            </a:r>
            <a:r>
              <a:rPr lang="es-ES" sz="3200" b="1" dirty="0"/>
              <a:t>esquemática en simulador de </a:t>
            </a:r>
            <a:r>
              <a:rPr lang="es-ES" sz="3200" b="1" dirty="0" smtClean="0"/>
              <a:t>redes</a:t>
            </a:r>
            <a:br>
              <a:rPr lang="es-ES" sz="3200" b="1" dirty="0" smtClean="0"/>
            </a:br>
            <a:r>
              <a:rPr lang="es-ES" sz="3200" b="1" dirty="0" smtClean="0"/>
              <a:t>Prácticos </a:t>
            </a:r>
            <a:r>
              <a:rPr lang="es-ES" sz="3200" b="1" dirty="0"/>
              <a:t>de captura</a:t>
            </a:r>
            <a:r>
              <a:rPr lang="es-ES" sz="2400" dirty="0"/>
              <a:t/>
            </a:r>
            <a:br>
              <a:rPr lang="es-ES" sz="2400" dirty="0"/>
            </a:br>
            <a:r>
              <a:rPr lang="es-ES" sz="2400" dirty="0"/>
              <a:t/>
            </a:r>
            <a:br>
              <a:rPr lang="es-ES" sz="2400" dirty="0"/>
            </a:b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95765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9" y="-14364"/>
            <a:ext cx="12152641" cy="6432169"/>
          </a:xfrm>
        </p:spPr>
      </p:pic>
    </p:spTree>
    <p:extLst>
      <p:ext uri="{BB962C8B-B14F-4D97-AF65-F5344CB8AC3E}">
        <p14:creationId xmlns:p14="http://schemas.microsoft.com/office/powerpoint/2010/main" val="2944800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1" y="692151"/>
            <a:ext cx="8785225" cy="597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524000" y="5300664"/>
            <a:ext cx="9144000" cy="155733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5" name="4 Rectángulo"/>
          <p:cNvSpPr/>
          <p:nvPr/>
        </p:nvSpPr>
        <p:spPr>
          <a:xfrm>
            <a:off x="1524000" y="4581525"/>
            <a:ext cx="9144000" cy="6477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6" name="5 Rectángulo"/>
          <p:cNvSpPr/>
          <p:nvPr/>
        </p:nvSpPr>
        <p:spPr>
          <a:xfrm>
            <a:off x="1524000" y="639763"/>
            <a:ext cx="9144000" cy="30670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 dirty="0"/>
          </a:p>
        </p:txBody>
      </p:sp>
      <p:sp>
        <p:nvSpPr>
          <p:cNvPr id="7" name="6 Rectángulo"/>
          <p:cNvSpPr/>
          <p:nvPr/>
        </p:nvSpPr>
        <p:spPr>
          <a:xfrm>
            <a:off x="1524000" y="3789364"/>
            <a:ext cx="9144000" cy="71913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1272" name="Text Box 9"/>
          <p:cNvSpPr txBox="1">
            <a:spLocks noChangeArrowheads="1"/>
          </p:cNvSpPr>
          <p:nvPr/>
        </p:nvSpPr>
        <p:spPr bwMode="auto">
          <a:xfrm>
            <a:off x="6816726" y="2997201"/>
            <a:ext cx="7921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/>
              <a:t>http</a:t>
            </a:r>
          </a:p>
        </p:txBody>
      </p:sp>
      <p:sp>
        <p:nvSpPr>
          <p:cNvPr id="2" name="1 Rectángulo"/>
          <p:cNvSpPr/>
          <p:nvPr/>
        </p:nvSpPr>
        <p:spPr>
          <a:xfrm>
            <a:off x="7069138" y="6000751"/>
            <a:ext cx="1079500" cy="722313"/>
          </a:xfrm>
          <a:prstGeom prst="rect">
            <a:avLst/>
          </a:prstGeom>
          <a:noFill/>
          <a:ln w="34925"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1274" name="3 CuadroTexto"/>
          <p:cNvSpPr txBox="1">
            <a:spLocks noChangeArrowheads="1"/>
          </p:cNvSpPr>
          <p:nvPr/>
        </p:nvSpPr>
        <p:spPr bwMode="auto">
          <a:xfrm>
            <a:off x="7104063" y="6078538"/>
            <a:ext cx="1008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/>
              <a:t>MPLS</a:t>
            </a:r>
            <a:endParaRPr lang="es-ES" b="1"/>
          </a:p>
        </p:txBody>
      </p:sp>
      <p:sp>
        <p:nvSpPr>
          <p:cNvPr id="11" name="10 Rectángulo"/>
          <p:cNvSpPr/>
          <p:nvPr/>
        </p:nvSpPr>
        <p:spPr>
          <a:xfrm>
            <a:off x="8185150" y="6000751"/>
            <a:ext cx="1637276" cy="908784"/>
          </a:xfrm>
          <a:prstGeom prst="rect">
            <a:avLst/>
          </a:prstGeom>
          <a:noFill/>
          <a:ln w="34925"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1276" name="11 CuadroTexto"/>
          <p:cNvSpPr txBox="1">
            <a:spLocks noChangeArrowheads="1"/>
          </p:cNvSpPr>
          <p:nvPr/>
        </p:nvSpPr>
        <p:spPr bwMode="auto">
          <a:xfrm>
            <a:off x="8256587" y="6078538"/>
            <a:ext cx="137411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 dirty="0" err="1" smtClean="0"/>
              <a:t>WiFi</a:t>
            </a:r>
            <a:r>
              <a:rPr lang="es-ES" sz="2400" b="1" dirty="0" smtClean="0"/>
              <a:t> 892,11ax</a:t>
            </a:r>
            <a:endParaRPr lang="es-ES" b="1" dirty="0"/>
          </a:p>
        </p:txBody>
      </p:sp>
      <p:sp>
        <p:nvSpPr>
          <p:cNvPr id="13" name="12 Rectángulo"/>
          <p:cNvSpPr/>
          <p:nvPr/>
        </p:nvSpPr>
        <p:spPr>
          <a:xfrm>
            <a:off x="5828173" y="6062302"/>
            <a:ext cx="1079500" cy="722313"/>
          </a:xfrm>
          <a:prstGeom prst="rect">
            <a:avLst/>
          </a:prstGeom>
          <a:noFill/>
          <a:ln w="34925"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1278" name="13 CuadroTexto"/>
          <p:cNvSpPr txBox="1">
            <a:spLocks noChangeArrowheads="1"/>
          </p:cNvSpPr>
          <p:nvPr/>
        </p:nvSpPr>
        <p:spPr bwMode="auto">
          <a:xfrm>
            <a:off x="5884862" y="6000751"/>
            <a:ext cx="11160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 dirty="0" smtClean="0"/>
              <a:t>VLAN</a:t>
            </a:r>
          </a:p>
          <a:p>
            <a:pPr eaLnBrk="1" hangingPunct="1"/>
            <a:r>
              <a:rPr lang="es-ES" sz="2400" b="1" dirty="0" smtClean="0"/>
              <a:t>802.1q</a:t>
            </a:r>
            <a:endParaRPr lang="es-ES" b="1" dirty="0"/>
          </a:p>
        </p:txBody>
      </p:sp>
      <p:sp>
        <p:nvSpPr>
          <p:cNvPr id="4" name="Rectángulo 3"/>
          <p:cNvSpPr/>
          <p:nvPr/>
        </p:nvSpPr>
        <p:spPr>
          <a:xfrm>
            <a:off x="103180" y="65922"/>
            <a:ext cx="40831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Estudio comparativo</a:t>
            </a:r>
          </a:p>
        </p:txBody>
      </p:sp>
    </p:spTree>
    <p:extLst>
      <p:ext uri="{BB962C8B-B14F-4D97-AF65-F5344CB8AC3E}">
        <p14:creationId xmlns:p14="http://schemas.microsoft.com/office/powerpoint/2010/main" val="1002693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Título"/>
          <p:cNvSpPr>
            <a:spLocks noGrp="1"/>
          </p:cNvSpPr>
          <p:nvPr>
            <p:ph type="title"/>
          </p:nvPr>
        </p:nvSpPr>
        <p:spPr>
          <a:xfrm>
            <a:off x="108952" y="0"/>
            <a:ext cx="8229600" cy="633412"/>
          </a:xfrm>
        </p:spPr>
        <p:txBody>
          <a:bodyPr>
            <a:normAutofit/>
          </a:bodyPr>
          <a:lstStyle/>
          <a:p>
            <a:pPr eaLnBrk="1" hangingPunct="1"/>
            <a:r>
              <a:rPr lang="es-ES" sz="3200" b="1" dirty="0"/>
              <a:t>Protocolos</a:t>
            </a:r>
          </a:p>
        </p:txBody>
      </p:sp>
      <p:sp>
        <p:nvSpPr>
          <p:cNvPr id="13315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s-ES" smtClean="0"/>
          </a:p>
        </p:txBody>
      </p:sp>
      <p:pic>
        <p:nvPicPr>
          <p:cNvPr id="1331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91" y="908721"/>
            <a:ext cx="10751574" cy="567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13 CuadroTexto"/>
          <p:cNvSpPr txBox="1">
            <a:spLocks noChangeArrowheads="1"/>
          </p:cNvSpPr>
          <p:nvPr/>
        </p:nvSpPr>
        <p:spPr bwMode="auto">
          <a:xfrm>
            <a:off x="5884862" y="6000751"/>
            <a:ext cx="11160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 dirty="0" smtClean="0"/>
              <a:t>VLAN</a:t>
            </a:r>
          </a:p>
          <a:p>
            <a:pPr eaLnBrk="1" hangingPunct="1"/>
            <a:r>
              <a:rPr lang="es-ES" sz="2400" b="1" dirty="0" smtClean="0"/>
              <a:t>802.1q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21229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70712" y="4795897"/>
            <a:ext cx="8530781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s-MX" b="1" dirty="0">
              <a:solidFill>
                <a:srgbClr val="333333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s-ES" b="1" dirty="0">
                <a:solidFill>
                  <a:srgbClr val="333333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La Capa Física: Define la interfaz física entre el dispositivo de transmisión de datos (por ejemplo, la estación del trabajo del computador) y el medio de transmisión o red. Esta capa se encarga de la especificación de las características del medio de transmisión, la naturaleza de las señales, la velocidad de los datos y cuestiones afines.</a:t>
            </a:r>
            <a:endParaRPr lang="es-MX" b="1" dirty="0">
              <a:solidFill>
                <a:srgbClr val="333333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s-MX" sz="2000" b="1" dirty="0"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38963" y="3585255"/>
            <a:ext cx="899636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 b="1" dirty="0">
                <a:solidFill>
                  <a:srgbClr val="333333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La Capa de Acceso a la Red: Es la responsable del intercambio de datos entre capas superiores y la red a la cual se esta conectado,. Se encuentra relacionada con el acceso y el encaminamiento de los datos</a:t>
            </a:r>
          </a:p>
          <a:p>
            <a:pPr eaLnBrk="1" hangingPunct="1"/>
            <a:r>
              <a:rPr lang="es-ES" b="1" dirty="0">
                <a:solidFill>
                  <a:srgbClr val="333333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Algunas interpretaciones de este modelo la unen a la capa 1</a:t>
            </a:r>
            <a:endParaRPr lang="es-MX" b="1" dirty="0">
              <a:solidFill>
                <a:srgbClr val="333333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70712" y="2625945"/>
            <a:ext cx="896461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 b="1" dirty="0">
                <a:solidFill>
                  <a:srgbClr val="333333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La Capa de Internet: El objetivo de esta capa es el de comunicar computadoras en redes distintas encargándose del direccionamiento y enrutamiento de los datos</a:t>
            </a:r>
            <a:endParaRPr lang="es-MX" b="1" dirty="0">
              <a:solidFill>
                <a:srgbClr val="333333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70712" y="1702615"/>
            <a:ext cx="874871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 b="1" dirty="0">
                <a:solidFill>
                  <a:srgbClr val="333333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La Capa de Transporte: es la que tiene aquellos procedimientos que garantizan una transmisión segura a nivel lógico ,segmentado, empaquetado identificación de puertos de transporte </a:t>
            </a:r>
            <a:endParaRPr lang="es-MX" b="1" dirty="0">
              <a:solidFill>
                <a:srgbClr val="333333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70712" y="538594"/>
            <a:ext cx="936148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 b="1" dirty="0">
                <a:solidFill>
                  <a:srgbClr val="333333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La Capa de Aplicación: En esta capa se encuentra el software  necesario para posibilitar las distintas sesiones, presentación de datos y comunicación de las aplicaciones de usuario-Lo que en OSI  se </a:t>
            </a:r>
            <a:r>
              <a:rPr lang="es-ES" b="1" dirty="0" err="1">
                <a:solidFill>
                  <a:srgbClr val="333333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resolvia</a:t>
            </a:r>
            <a:r>
              <a:rPr lang="es-ES" b="1" dirty="0">
                <a:solidFill>
                  <a:srgbClr val="333333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en 3 capas superiores a la de transporte</a:t>
            </a:r>
            <a:endParaRPr lang="es-MX" b="1" dirty="0">
              <a:latin typeface="Arial" panose="020B0604020202020204" pitchFamily="34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0" y="10418"/>
            <a:ext cx="48942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Descripción capa a capa </a:t>
            </a:r>
          </a:p>
        </p:txBody>
      </p:sp>
    </p:spTree>
    <p:extLst>
      <p:ext uri="{BB962C8B-B14F-4D97-AF65-F5344CB8AC3E}">
        <p14:creationId xmlns:p14="http://schemas.microsoft.com/office/powerpoint/2010/main" val="380811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0900"/>
          </a:xfrm>
        </p:spPr>
        <p:txBody>
          <a:bodyPr/>
          <a:lstStyle/>
          <a:p>
            <a:r>
              <a:rPr lang="es-MX" sz="4800" dirty="0"/>
              <a:t>Comunicación capa a capa</a:t>
            </a:r>
            <a:endParaRPr lang="es-ES_tradnl" sz="4800" dirty="0"/>
          </a:p>
        </p:txBody>
      </p:sp>
      <p:sp>
        <p:nvSpPr>
          <p:cNvPr id="7171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smtClean="0"/>
          </a:p>
        </p:txBody>
      </p:sp>
      <p:pic>
        <p:nvPicPr>
          <p:cNvPr id="7172" name="Picture 4" descr="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30" y="1016130"/>
            <a:ext cx="10510992" cy="5445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2212258" y="3406877"/>
            <a:ext cx="681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Cada capa analiza lo resuelto por su homónima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6854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51" y="5280946"/>
            <a:ext cx="9156278" cy="108327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2456010" cy="585216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Encapsulado</a:t>
            </a:r>
            <a:endParaRPr lang="es-E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08" y="585216"/>
            <a:ext cx="1296860" cy="4708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1" y="690181"/>
            <a:ext cx="1085088" cy="131025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1" y="2000440"/>
            <a:ext cx="1085088" cy="43891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6"/>
          <a:srcRect l="55716" t="18113" r="1726" b="1545"/>
          <a:stretch/>
        </p:blipFill>
        <p:spPr>
          <a:xfrm>
            <a:off x="3182112" y="1530477"/>
            <a:ext cx="1418780" cy="5168457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8469" y="2462593"/>
            <a:ext cx="669915" cy="329375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4391" y="3167443"/>
            <a:ext cx="1009650" cy="352425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4391" y="3661505"/>
            <a:ext cx="1577721" cy="409575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6865" y="4846701"/>
            <a:ext cx="1448396" cy="102967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9748" y="481584"/>
            <a:ext cx="1296860" cy="4708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9895" y="3752945"/>
            <a:ext cx="1577721" cy="409575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2919" y="3295459"/>
            <a:ext cx="1009650" cy="352425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9833" y="2462592"/>
            <a:ext cx="669915" cy="329375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831" y="1893236"/>
            <a:ext cx="1085088" cy="438912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7400"/>
            <a:ext cx="1085088" cy="131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04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7 L 0.41745 0.0044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72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536448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Estudio de cabeceras</a:t>
            </a:r>
            <a:endParaRPr lang="es-ES" dirty="0"/>
          </a:p>
        </p:txBody>
      </p:sp>
      <p:pic>
        <p:nvPicPr>
          <p:cNvPr id="4098" name="Picture 2" descr="http://cv.uoc.edu/UOC/a/moduls/90/90_329/web/imagenes/f6_18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3" y="3048000"/>
            <a:ext cx="3657600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Qué es IPv4 y las clases de redes (A, B, C, D y E) - CCNA Desde C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1522" y="567009"/>
            <a:ext cx="369709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8" descr="IPv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7092" y="3552606"/>
            <a:ext cx="3799107" cy="2087599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36448"/>
            <a:ext cx="3623945" cy="223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1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6064842" cy="560832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protocolos y sus puertos</a:t>
            </a:r>
            <a:endParaRPr lang="es-ES" dirty="0"/>
          </a:p>
        </p:txBody>
      </p:sp>
      <p:pic>
        <p:nvPicPr>
          <p:cNvPr id="5122" name="Picture 2" descr="Capa de transporte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0" t="17842" r="5026" b="5829"/>
          <a:stretch/>
        </p:blipFill>
        <p:spPr bwMode="auto">
          <a:xfrm>
            <a:off x="574681" y="829056"/>
            <a:ext cx="8038939" cy="518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8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-9934"/>
            <a:ext cx="12192000" cy="790222"/>
          </a:xfrm>
        </p:spPr>
        <p:txBody>
          <a:bodyPr/>
          <a:lstStyle/>
          <a:p>
            <a:r>
              <a:rPr lang="es-ES" b="1" dirty="0"/>
              <a:t>Representación esquemática en simulador de redes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5400" t="14919" r="9600" b="21880"/>
          <a:stretch/>
        </p:blipFill>
        <p:spPr>
          <a:xfrm>
            <a:off x="524256" y="1930400"/>
            <a:ext cx="10363200" cy="481584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82880" y="578729"/>
            <a:ext cx="730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linkClick r:id="rId3"/>
              </a:rPr>
              <a:t>Descarga escenario de prueba</a:t>
            </a:r>
            <a:endParaRPr lang="es-ES" dirty="0"/>
          </a:p>
        </p:txBody>
      </p:sp>
      <p:sp>
        <p:nvSpPr>
          <p:cNvPr id="7" name="CuadroTexto 6"/>
          <p:cNvSpPr txBox="1"/>
          <p:nvPr/>
        </p:nvSpPr>
        <p:spPr>
          <a:xfrm>
            <a:off x="182880" y="932624"/>
            <a:ext cx="730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linkClick r:id="rId4"/>
              </a:rPr>
              <a:t>Descarga </a:t>
            </a:r>
            <a:r>
              <a:rPr lang="es-ES" dirty="0" err="1" smtClean="0">
                <a:hlinkClick r:id="rId4"/>
              </a:rPr>
              <a:t>Packet</a:t>
            </a:r>
            <a:r>
              <a:rPr lang="es-ES" dirty="0" smtClean="0">
                <a:hlinkClick r:id="rId4"/>
              </a:rPr>
              <a:t> </a:t>
            </a:r>
            <a:r>
              <a:rPr lang="es-ES" dirty="0" err="1" smtClean="0">
                <a:hlinkClick r:id="rId4"/>
              </a:rPr>
              <a:t>tracert</a:t>
            </a:r>
            <a:r>
              <a:rPr lang="es-ES" dirty="0" smtClean="0">
                <a:hlinkClick r:id="rId4"/>
              </a:rPr>
              <a:t> 6.22</a:t>
            </a:r>
            <a:endParaRPr lang="es-ES" dirty="0"/>
          </a:p>
        </p:txBody>
      </p:sp>
      <p:sp>
        <p:nvSpPr>
          <p:cNvPr id="8" name="CuadroTexto 7"/>
          <p:cNvSpPr txBox="1"/>
          <p:nvPr/>
        </p:nvSpPr>
        <p:spPr>
          <a:xfrm>
            <a:off x="182880" y="1269626"/>
            <a:ext cx="730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linkClick r:id="rId5"/>
              </a:rPr>
              <a:t>Descarga </a:t>
            </a:r>
            <a:r>
              <a:rPr lang="es-ES" dirty="0" smtClean="0">
                <a:hlinkClick r:id="rId5"/>
              </a:rPr>
              <a:t>Manual </a:t>
            </a:r>
            <a:r>
              <a:rPr lang="es-ES" dirty="0" err="1" smtClean="0">
                <a:hlinkClick r:id="rId5"/>
              </a:rPr>
              <a:t>basico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13370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-73152"/>
            <a:ext cx="8400288" cy="414528"/>
          </a:xfrm>
        </p:spPr>
        <p:txBody>
          <a:bodyPr>
            <a:normAutofit fontScale="90000"/>
          </a:bodyPr>
          <a:lstStyle/>
          <a:p>
            <a:r>
              <a:rPr lang="es-ES" b="1" dirty="0">
                <a:hlinkClick r:id="rId2"/>
              </a:rPr>
              <a:t>Prácticos de </a:t>
            </a:r>
            <a:r>
              <a:rPr lang="es-ES" b="1" dirty="0" smtClean="0">
                <a:hlinkClick r:id="rId2"/>
              </a:rPr>
              <a:t>captura-</a:t>
            </a:r>
            <a:r>
              <a:rPr lang="es-ES" b="1" dirty="0" err="1" smtClean="0">
                <a:hlinkClick r:id="rId2"/>
              </a:rPr>
              <a:t>Wireshark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524256"/>
            <a:ext cx="12057888" cy="6333744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316992" y="3681984"/>
            <a:ext cx="3535680" cy="32918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redondeado 5"/>
          <p:cNvSpPr/>
          <p:nvPr/>
        </p:nvSpPr>
        <p:spPr>
          <a:xfrm>
            <a:off x="91440" y="5334000"/>
            <a:ext cx="3535680" cy="32918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2622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151</TotalTime>
  <Words>271</Words>
  <Application>Microsoft Office PowerPoint</Application>
  <PresentationFormat>Panorámica</PresentationFormat>
  <Paragraphs>28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Times New Roman</vt:lpstr>
      <vt:lpstr>Trebuchet MS</vt:lpstr>
      <vt:lpstr>Wingdings 3</vt:lpstr>
      <vt:lpstr>Faceta</vt:lpstr>
      <vt:lpstr>MODELO OSI VS MODELO TCP/IP Estudio comparativo Comparativo con infraestructura de redes Descripción capa a capa  encapsulado Estudio de cabeceras, protocolos y sus puertos Representación esquemática en simulador de redes Prácticos de captura  </vt:lpstr>
      <vt:lpstr>Presentación de PowerPoint</vt:lpstr>
      <vt:lpstr>Presentación de PowerPoint</vt:lpstr>
      <vt:lpstr>Protocolos</vt:lpstr>
      <vt:lpstr>Presentación de PowerPoint</vt:lpstr>
      <vt:lpstr>Comunicación capa a capa</vt:lpstr>
      <vt:lpstr>Encapsulado</vt:lpstr>
      <vt:lpstr>Estudio de cabeceras</vt:lpstr>
      <vt:lpstr>protocolos y sus puertos</vt:lpstr>
      <vt:lpstr>Representación esquemática en simulador de redes</vt:lpstr>
      <vt:lpstr>Prácticos de captura-Wireshark</vt:lpstr>
    </vt:vector>
  </TitlesOfParts>
  <Company>Usuario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OSI VS MODELO TCP/IP Estudio comparativo Comparativo con infraestructura de redes Descripción capa a capa  encapsulado Estudio de cabeceras, protocolos y sus puertos representación esquemática en simulador de redes Prácticos de captura</dc:title>
  <dc:creator>Usuario</dc:creator>
  <cp:lastModifiedBy>Usuario</cp:lastModifiedBy>
  <cp:revision>19</cp:revision>
  <dcterms:created xsi:type="dcterms:W3CDTF">2020-04-10T17:13:05Z</dcterms:created>
  <dcterms:modified xsi:type="dcterms:W3CDTF">2020-04-12T22:11:44Z</dcterms:modified>
</cp:coreProperties>
</file>